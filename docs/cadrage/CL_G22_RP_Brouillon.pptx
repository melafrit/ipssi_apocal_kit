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0292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fr-FR" sz="2400" b="1" noProof="0" dirty="0">
                <a:solidFill>
                  <a:srgbClr val="212D3D"/>
                </a:solidFill>
              </a:rPr>
              <a:t>Release Planning - structure attendue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" y="1069848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fr-FR" sz="1100" noProof="0" dirty="0">
                <a:solidFill>
                  <a:srgbClr val="5C6978"/>
                </a:solidFill>
              </a:rPr>
              <a:t>Brouillon de travail avant intégration du Product </a:t>
            </a:r>
            <a:r>
              <a:rPr lang="fr-FR" sz="1100" noProof="0" dirty="0" err="1">
                <a:solidFill>
                  <a:srgbClr val="5C6978"/>
                </a:solidFill>
              </a:rPr>
              <a:t>Backlog</a:t>
            </a:r>
            <a:r>
              <a:rPr lang="fr-FR" sz="1100" noProof="0" dirty="0">
                <a:solidFill>
                  <a:srgbClr val="5C6978"/>
                </a:solidFill>
              </a:rPr>
              <a:t> final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91640"/>
            <a:ext cx="3246120" cy="3794760"/>
          </a:xfrm>
          <a:prstGeom prst="roundRect">
            <a:avLst/>
          </a:prstGeom>
          <a:solidFill>
            <a:srgbClr val="FFFCF8"/>
          </a:solidFill>
          <a:ln w="15240">
            <a:solidFill>
              <a:srgbClr val="D2CD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ectangle 4"/>
          <p:cNvSpPr/>
          <p:nvPr/>
        </p:nvSpPr>
        <p:spPr>
          <a:xfrm>
            <a:off x="868680" y="1691640"/>
            <a:ext cx="3246120" cy="566928"/>
          </a:xfrm>
          <a:prstGeom prst="rect">
            <a:avLst/>
          </a:prstGeom>
          <a:solidFill>
            <a:srgbClr val="496F8F"/>
          </a:solidFill>
          <a:ln>
            <a:solidFill>
              <a:srgbClr val="49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1033272" y="1801368"/>
            <a:ext cx="291693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fr-FR" sz="1500" b="1" noProof="0" dirty="0">
                <a:solidFill>
                  <a:srgbClr val="FFFFFF"/>
                </a:solidFill>
              </a:rPr>
              <a:t>1. Cadence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441448"/>
            <a:ext cx="2843784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12D3D"/>
                </a:solidFill>
              </a:defRPr>
            </a:pPr>
            <a:r>
              <a:rPr lang="fr-FR" noProof="0" dirty="0"/>
              <a:t>7 Sprints d’une demi-journée</a:t>
            </a:r>
          </a:p>
          <a:p>
            <a:pPr>
              <a:spcAft>
                <a:spcPts val="600"/>
              </a:spcAft>
              <a:defRPr sz="1200">
                <a:solidFill>
                  <a:srgbClr val="212D3D"/>
                </a:solidFill>
              </a:defRPr>
            </a:pPr>
            <a:r>
              <a:rPr lang="fr-FR" noProof="0" dirty="0"/>
              <a:t>1 Sprint Goal par Sprint</a:t>
            </a:r>
          </a:p>
          <a:p>
            <a:pPr>
              <a:spcAft>
                <a:spcPts val="600"/>
              </a:spcAft>
              <a:defRPr sz="1200">
                <a:solidFill>
                  <a:srgbClr val="212D3D"/>
                </a:solidFill>
              </a:defRPr>
            </a:pPr>
            <a:r>
              <a:rPr lang="fr-FR" noProof="0" dirty="0"/>
              <a:t>Vélocité exprimée en Story Points</a:t>
            </a:r>
          </a:p>
          <a:p>
            <a:pPr>
              <a:spcAft>
                <a:spcPts val="600"/>
              </a:spcAft>
              <a:defRPr sz="1200">
                <a:solidFill>
                  <a:srgbClr val="212D3D"/>
                </a:solidFill>
              </a:defRPr>
            </a:pPr>
            <a:r>
              <a:rPr lang="fr-FR" noProof="0" dirty="0"/>
              <a:t>Révision après chaque Sprint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691640"/>
            <a:ext cx="3246120" cy="3794760"/>
          </a:xfrm>
          <a:prstGeom prst="roundRect">
            <a:avLst/>
          </a:prstGeom>
          <a:solidFill>
            <a:srgbClr val="FFFCF8"/>
          </a:solidFill>
          <a:ln w="15240">
            <a:solidFill>
              <a:srgbClr val="D2CD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9" name="Rectangle 8"/>
          <p:cNvSpPr/>
          <p:nvPr/>
        </p:nvSpPr>
        <p:spPr>
          <a:xfrm>
            <a:off x="4462272" y="1691640"/>
            <a:ext cx="3246120" cy="566928"/>
          </a:xfrm>
          <a:prstGeom prst="rect">
            <a:avLst/>
          </a:prstGeom>
          <a:solidFill>
            <a:srgbClr val="D6C5A9"/>
          </a:solidFill>
          <a:ln>
            <a:solidFill>
              <a:srgbClr val="D6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4626864" y="1801368"/>
            <a:ext cx="291693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fr-FR" sz="1500" b="1" noProof="0" dirty="0">
                <a:solidFill>
                  <a:srgbClr val="FFFFFF"/>
                </a:solidFill>
              </a:rPr>
              <a:t>2. Jalons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41448"/>
            <a:ext cx="2843784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12D3D"/>
                </a:solidFill>
              </a:defRPr>
            </a:pPr>
            <a:r>
              <a:rPr lang="fr-FR" noProof="0" dirty="0"/>
              <a:t>MVP mercredi à 17h45</a:t>
            </a:r>
          </a:p>
          <a:p>
            <a:pPr>
              <a:spcAft>
                <a:spcPts val="600"/>
              </a:spcAft>
              <a:defRPr sz="1200">
                <a:solidFill>
                  <a:srgbClr val="212D3D"/>
                </a:solidFill>
              </a:defRPr>
            </a:pPr>
            <a:r>
              <a:rPr lang="fr-FR" noProof="0" dirty="0"/>
              <a:t>Release 2 jeudi à 17h45</a:t>
            </a:r>
          </a:p>
          <a:p>
            <a:pPr>
              <a:spcAft>
                <a:spcPts val="600"/>
              </a:spcAft>
              <a:defRPr sz="1200">
                <a:solidFill>
                  <a:srgbClr val="212D3D"/>
                </a:solidFill>
              </a:defRPr>
            </a:pPr>
            <a:r>
              <a:rPr lang="fr-FR" noProof="0" dirty="0"/>
              <a:t>Démonstration à chaque jalon</a:t>
            </a:r>
          </a:p>
          <a:p>
            <a:pPr>
              <a:spcAft>
                <a:spcPts val="600"/>
              </a:spcAft>
              <a:defRPr sz="1200">
                <a:solidFill>
                  <a:srgbClr val="212D3D"/>
                </a:solidFill>
              </a:defRPr>
            </a:pPr>
            <a:r>
              <a:rPr lang="fr-FR" noProof="0" dirty="0"/>
              <a:t>Marge pour perturbations et incidents techniques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91640"/>
            <a:ext cx="3246120" cy="3794760"/>
          </a:xfrm>
          <a:prstGeom prst="roundRect">
            <a:avLst/>
          </a:prstGeom>
          <a:solidFill>
            <a:srgbClr val="FFFCF8"/>
          </a:solidFill>
          <a:ln w="15240">
            <a:solidFill>
              <a:srgbClr val="D2CD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3" name="Rectangle 12"/>
          <p:cNvSpPr/>
          <p:nvPr/>
        </p:nvSpPr>
        <p:spPr>
          <a:xfrm>
            <a:off x="8046720" y="1691640"/>
            <a:ext cx="3246120" cy="566928"/>
          </a:xfrm>
          <a:prstGeom prst="rect">
            <a:avLst/>
          </a:prstGeom>
          <a:solidFill>
            <a:srgbClr val="8595A6"/>
          </a:solidFill>
          <a:ln>
            <a:solidFill>
              <a:srgbClr val="859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8211312" y="1801368"/>
            <a:ext cx="291693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fr-FR" sz="1500" b="1" noProof="0" dirty="0">
                <a:solidFill>
                  <a:srgbClr val="FFFFFF"/>
                </a:solidFill>
              </a:rPr>
              <a:t>3. Contenu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441448"/>
            <a:ext cx="2843784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12D3D"/>
                </a:solidFill>
              </a:defRPr>
            </a:pPr>
            <a:r>
              <a:rPr lang="fr-FR" noProof="0" dirty="0"/>
              <a:t>Epics et User Stories</a:t>
            </a:r>
          </a:p>
          <a:p>
            <a:pPr>
              <a:spcAft>
                <a:spcPts val="600"/>
              </a:spcAft>
              <a:defRPr sz="1200">
                <a:solidFill>
                  <a:srgbClr val="212D3D"/>
                </a:solidFill>
              </a:defRPr>
            </a:pPr>
            <a:r>
              <a:rPr lang="fr-FR" noProof="0" dirty="0"/>
              <a:t>Story Points et dépendances</a:t>
            </a:r>
          </a:p>
          <a:p>
            <a:pPr>
              <a:spcAft>
                <a:spcPts val="600"/>
              </a:spcAft>
              <a:defRPr sz="1200">
                <a:solidFill>
                  <a:srgbClr val="212D3D"/>
                </a:solidFill>
              </a:defRPr>
            </a:pPr>
            <a:r>
              <a:rPr lang="fr-FR" noProof="0" dirty="0"/>
              <a:t>Valeur utilisateur par Release</a:t>
            </a:r>
          </a:p>
          <a:p>
            <a:pPr>
              <a:spcAft>
                <a:spcPts val="600"/>
              </a:spcAft>
              <a:defRPr sz="1200">
                <a:solidFill>
                  <a:srgbClr val="212D3D"/>
                </a:solidFill>
              </a:defRPr>
            </a:pPr>
            <a:r>
              <a:rPr lang="fr-FR" noProof="0" dirty="0"/>
              <a:t>Roadmap visuelle par Epic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0256"/>
            <a:ext cx="4069080" cy="146304"/>
          </a:xfrm>
          <a:prstGeom prst="rect">
            <a:avLst/>
          </a:prstGeom>
          <a:solidFill>
            <a:srgbClr val="496F8F"/>
          </a:solidFill>
          <a:ln>
            <a:solidFill>
              <a:srgbClr val="49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7" name="Rectangle 16"/>
          <p:cNvSpPr/>
          <p:nvPr/>
        </p:nvSpPr>
        <p:spPr>
          <a:xfrm>
            <a:off x="4069080" y="6620256"/>
            <a:ext cx="4069080" cy="146304"/>
          </a:xfrm>
          <a:prstGeom prst="rect">
            <a:avLst/>
          </a:prstGeom>
          <a:solidFill>
            <a:srgbClr val="D6C5A9"/>
          </a:solidFill>
          <a:ln>
            <a:solidFill>
              <a:srgbClr val="D6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8" name="Rectangle 17"/>
          <p:cNvSpPr/>
          <p:nvPr/>
        </p:nvSpPr>
        <p:spPr>
          <a:xfrm>
            <a:off x="8138160" y="6620256"/>
            <a:ext cx="4050791" cy="146304"/>
          </a:xfrm>
          <a:prstGeom prst="rect">
            <a:avLst/>
          </a:prstGeom>
          <a:solidFill>
            <a:srgbClr val="8595A6"/>
          </a:solidFill>
          <a:ln>
            <a:solidFill>
              <a:srgbClr val="859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0292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12D3D"/>
                </a:solidFill>
              </a:rPr>
              <a:t>Release Planning - données encore attendues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" y="1069848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C6978"/>
                </a:solidFill>
              </a:rPr>
              <a:t>Éléments nécessaires pour passer du brouillon à la version finalisée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783080"/>
            <a:ext cx="4754880" cy="3611880"/>
          </a:xfrm>
          <a:prstGeom prst="roundRect">
            <a:avLst/>
          </a:prstGeom>
          <a:solidFill>
            <a:srgbClr val="FFFCF8"/>
          </a:solidFill>
          <a:ln w="15240">
            <a:solidFill>
              <a:srgbClr val="D2CD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05840" y="1783080"/>
            <a:ext cx="4754880" cy="566928"/>
          </a:xfrm>
          <a:prstGeom prst="rect">
            <a:avLst/>
          </a:prstGeom>
          <a:solidFill>
            <a:srgbClr val="496F8F"/>
          </a:solidFill>
          <a:ln>
            <a:solidFill>
              <a:srgbClr val="49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" y="1892808"/>
            <a:ext cx="44256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Entrées indispensables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2532888"/>
            <a:ext cx="4352544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12D3D"/>
                </a:solidFill>
              </a:defRPr>
            </a:pPr>
            <a:r>
              <a:t>Story Map stabilisée</a:t>
            </a:r>
          </a:p>
          <a:p>
            <a:pPr>
              <a:spcAft>
                <a:spcPts val="600"/>
              </a:spcAft>
              <a:defRPr sz="1200">
                <a:solidFill>
                  <a:srgbClr val="212D3D"/>
                </a:solidFill>
              </a:defRPr>
            </a:pPr>
            <a:r>
              <a:t>Product Backlog final avec priorités MoSCoW</a:t>
            </a:r>
          </a:p>
          <a:p>
            <a:pPr>
              <a:spcAft>
                <a:spcPts val="600"/>
              </a:spcAft>
              <a:defRPr sz="1200">
                <a:solidFill>
                  <a:srgbClr val="212D3D"/>
                </a:solidFill>
              </a:defRPr>
            </a:pPr>
            <a:r>
              <a:t>Story Points estimés par l’équipe</a:t>
            </a:r>
          </a:p>
          <a:p>
            <a:pPr>
              <a:spcAft>
                <a:spcPts val="600"/>
              </a:spcAft>
              <a:defRPr sz="1200">
                <a:solidFill>
                  <a:srgbClr val="212D3D"/>
                </a:solidFill>
              </a:defRPr>
            </a:pPr>
            <a:r>
              <a:t>Dépendances et contraintes techniques</a:t>
            </a:r>
          </a:p>
          <a:p>
            <a:pPr>
              <a:spcAft>
                <a:spcPts val="600"/>
              </a:spcAft>
              <a:defRPr sz="1200">
                <a:solidFill>
                  <a:srgbClr val="212D3D"/>
                </a:solidFill>
              </a:defRPr>
            </a:pPr>
            <a:r>
              <a:t>Impact validé des perturbations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83080"/>
            <a:ext cx="4754880" cy="3611880"/>
          </a:xfrm>
          <a:prstGeom prst="roundRect">
            <a:avLst/>
          </a:prstGeom>
          <a:solidFill>
            <a:srgbClr val="FFFCF8"/>
          </a:solidFill>
          <a:ln w="15240">
            <a:solidFill>
              <a:srgbClr val="D2CD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783080"/>
            <a:ext cx="4754880" cy="566928"/>
          </a:xfrm>
          <a:prstGeom prst="rect">
            <a:avLst/>
          </a:prstGeom>
          <a:solidFill>
            <a:srgbClr val="D6C5A9"/>
          </a:solidFill>
          <a:ln>
            <a:solidFill>
              <a:srgbClr val="D6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36792" y="1892808"/>
            <a:ext cx="44256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Hypothèses provisoires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532888"/>
            <a:ext cx="4352544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12D3D"/>
                </a:solidFill>
              </a:defRPr>
            </a:pPr>
            <a:r>
              <a:t>S1 à S5 orientés MVP</a:t>
            </a:r>
          </a:p>
          <a:p>
            <a:pPr>
              <a:spcAft>
                <a:spcPts val="600"/>
              </a:spcAft>
              <a:defRPr sz="1200">
                <a:solidFill>
                  <a:srgbClr val="212D3D"/>
                </a:solidFill>
              </a:defRPr>
            </a:pPr>
            <a:r>
              <a:t>S6 à S7 orientés Release 2</a:t>
            </a:r>
          </a:p>
          <a:p>
            <a:pPr>
              <a:spcAft>
                <a:spcPts val="600"/>
              </a:spcAft>
              <a:defRPr sz="1200">
                <a:solidFill>
                  <a:srgbClr val="212D3D"/>
                </a:solidFill>
              </a:defRPr>
            </a:pPr>
            <a:r>
              <a:t>Capacité et vélocité encore à confirmer</a:t>
            </a:r>
          </a:p>
          <a:p>
            <a:pPr>
              <a:spcAft>
                <a:spcPts val="600"/>
              </a:spcAft>
              <a:defRPr sz="1200">
                <a:solidFill>
                  <a:srgbClr val="212D3D"/>
                </a:solidFill>
              </a:defRPr>
            </a:pPr>
            <a:r>
              <a:t>Une marge reste réservée pour les imprévus</a:t>
            </a:r>
          </a:p>
          <a:p>
            <a:pPr>
              <a:spcAft>
                <a:spcPts val="600"/>
              </a:spcAft>
              <a:defRPr sz="1200">
                <a:solidFill>
                  <a:srgbClr val="212D3D"/>
                </a:solidFill>
              </a:defRPr>
            </a:pPr>
            <a:r>
              <a:t>Le planning sera révisé après chaque Review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20256"/>
            <a:ext cx="4069080" cy="146304"/>
          </a:xfrm>
          <a:prstGeom prst="rect">
            <a:avLst/>
          </a:prstGeom>
          <a:solidFill>
            <a:srgbClr val="496F8F"/>
          </a:solidFill>
          <a:ln>
            <a:solidFill>
              <a:srgbClr val="49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069080" y="6620256"/>
            <a:ext cx="4069080" cy="146304"/>
          </a:xfrm>
          <a:prstGeom prst="rect">
            <a:avLst/>
          </a:prstGeom>
          <a:solidFill>
            <a:srgbClr val="D6C5A9"/>
          </a:solidFill>
          <a:ln>
            <a:solidFill>
              <a:srgbClr val="D6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6620256"/>
            <a:ext cx="4050791" cy="146304"/>
          </a:xfrm>
          <a:prstGeom prst="rect">
            <a:avLst/>
          </a:prstGeom>
          <a:solidFill>
            <a:srgbClr val="8595A6"/>
          </a:solidFill>
          <a:ln>
            <a:solidFill>
              <a:srgbClr val="859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0292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12D3D"/>
                </a:solidFill>
              </a:rPr>
              <a:t>Release Planning - roadmap provisoire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" y="1069848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C6978"/>
                </a:solidFill>
              </a:rPr>
              <a:t>Version de travail en attente d’arbitrage final de l’équipe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" y="2221992"/>
            <a:ext cx="1572768" cy="2011680"/>
          </a:xfrm>
          <a:prstGeom prst="roundRect">
            <a:avLst/>
          </a:prstGeom>
          <a:solidFill>
            <a:srgbClr val="FFFCF8"/>
          </a:solidFill>
          <a:ln w="20320">
            <a:solidFill>
              <a:srgbClr val="49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56032" y="2194560"/>
            <a:ext cx="1572768" cy="475488"/>
          </a:xfrm>
          <a:prstGeom prst="rect">
            <a:avLst/>
          </a:prstGeom>
          <a:solidFill>
            <a:srgbClr val="496F8F"/>
          </a:solidFill>
          <a:ln>
            <a:solidFill>
              <a:srgbClr val="49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6031" y="2295144"/>
            <a:ext cx="15727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S1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2907792"/>
            <a:ext cx="142646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212D3D"/>
                </a:solidFill>
              </a:rPr>
              <a:t>Audit + cadrage
parcours MVP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38528" y="2221992"/>
            <a:ext cx="1572768" cy="2011680"/>
          </a:xfrm>
          <a:prstGeom prst="roundRect">
            <a:avLst/>
          </a:prstGeom>
          <a:solidFill>
            <a:srgbClr val="FFFCF8"/>
          </a:solidFill>
          <a:ln w="20320">
            <a:solidFill>
              <a:srgbClr val="859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938526" y="2194560"/>
            <a:ext cx="1572768" cy="475488"/>
          </a:xfrm>
          <a:prstGeom prst="rect">
            <a:avLst/>
          </a:prstGeom>
          <a:solidFill>
            <a:srgbClr val="8595A6"/>
          </a:solidFill>
          <a:ln>
            <a:solidFill>
              <a:srgbClr val="859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38528" y="2304287"/>
            <a:ext cx="15727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907792"/>
            <a:ext cx="142646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212D3D"/>
                </a:solidFill>
              </a:rPr>
              <a:t>Entrées utilisateur
+ stratégie LLM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21023" y="2221992"/>
            <a:ext cx="1572768" cy="2011680"/>
          </a:xfrm>
          <a:prstGeom prst="roundRect">
            <a:avLst/>
          </a:prstGeom>
          <a:solidFill>
            <a:srgbClr val="FFFCF8"/>
          </a:solidFill>
          <a:ln w="20320">
            <a:solidFill>
              <a:srgbClr val="49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21023" y="2194560"/>
            <a:ext cx="1572768" cy="475488"/>
          </a:xfrm>
          <a:prstGeom prst="rect">
            <a:avLst/>
          </a:prstGeom>
          <a:solidFill>
            <a:srgbClr val="496F8F"/>
          </a:solidFill>
          <a:ln>
            <a:solidFill>
              <a:srgbClr val="49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21023" y="2304287"/>
            <a:ext cx="15727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4175" y="2907792"/>
            <a:ext cx="142646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212D3D"/>
                </a:solidFill>
              </a:rPr>
              <a:t>Génération du quiz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2221992"/>
            <a:ext cx="1572768" cy="2011680"/>
          </a:xfrm>
          <a:prstGeom prst="roundRect">
            <a:avLst/>
          </a:prstGeom>
          <a:solidFill>
            <a:srgbClr val="FFFCF8"/>
          </a:solidFill>
          <a:ln w="20320">
            <a:solidFill>
              <a:srgbClr val="859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03518" y="2194560"/>
            <a:ext cx="1572768" cy="475488"/>
          </a:xfrm>
          <a:prstGeom prst="rect">
            <a:avLst/>
          </a:prstGeom>
          <a:solidFill>
            <a:srgbClr val="8595A6"/>
          </a:solidFill>
          <a:ln>
            <a:solidFill>
              <a:srgbClr val="859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0" y="2304287"/>
            <a:ext cx="15727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6672" y="2907792"/>
            <a:ext cx="142646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212D3D"/>
                </a:solidFill>
              </a:rPr>
              <a:t>Réponses, correction
et 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86015" y="2221992"/>
            <a:ext cx="1572768" cy="2011680"/>
          </a:xfrm>
          <a:prstGeom prst="roundRect">
            <a:avLst/>
          </a:prstGeom>
          <a:solidFill>
            <a:srgbClr val="FFFCF8"/>
          </a:solidFill>
          <a:ln w="20320">
            <a:solidFill>
              <a:srgbClr val="D6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986015" y="2194560"/>
            <a:ext cx="1572768" cy="475488"/>
          </a:xfrm>
          <a:prstGeom prst="rect">
            <a:avLst/>
          </a:prstGeom>
          <a:solidFill>
            <a:srgbClr val="D6C5A9"/>
          </a:solidFill>
          <a:ln>
            <a:solidFill>
              <a:srgbClr val="D6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86015" y="2304287"/>
            <a:ext cx="15727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7" y="2907792"/>
            <a:ext cx="142646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212D3D"/>
                </a:solidFill>
              </a:rPr>
              <a:t>Historique,
sécurité, MVP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68512" y="2221992"/>
            <a:ext cx="1572768" cy="2011680"/>
          </a:xfrm>
          <a:prstGeom prst="roundRect">
            <a:avLst/>
          </a:prstGeom>
          <a:solidFill>
            <a:srgbClr val="FFFCF8"/>
          </a:solidFill>
          <a:ln w="20320">
            <a:solidFill>
              <a:srgbClr val="859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668510" y="2194560"/>
            <a:ext cx="1572768" cy="475488"/>
          </a:xfrm>
          <a:prstGeom prst="rect">
            <a:avLst/>
          </a:prstGeom>
          <a:solidFill>
            <a:srgbClr val="8595A6"/>
          </a:solidFill>
          <a:ln>
            <a:solidFill>
              <a:srgbClr val="859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68512" y="2304287"/>
            <a:ext cx="15727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41664" y="2907792"/>
            <a:ext cx="142646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212D3D"/>
                </a:solidFill>
              </a:rPr>
              <a:t>Enrichissements
Release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51008" y="2221992"/>
            <a:ext cx="1572768" cy="2011680"/>
          </a:xfrm>
          <a:prstGeom prst="roundRect">
            <a:avLst/>
          </a:prstGeom>
          <a:solidFill>
            <a:srgbClr val="FFFCF8"/>
          </a:solidFill>
          <a:ln w="20320">
            <a:solidFill>
              <a:srgbClr val="49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351008" y="2194560"/>
            <a:ext cx="1572768" cy="475488"/>
          </a:xfrm>
          <a:prstGeom prst="rect">
            <a:avLst/>
          </a:prstGeom>
          <a:solidFill>
            <a:srgbClr val="496F8F"/>
          </a:solidFill>
          <a:ln>
            <a:solidFill>
              <a:srgbClr val="49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10351008" y="2304287"/>
            <a:ext cx="15727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2907792"/>
            <a:ext cx="142646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212D3D"/>
                </a:solidFill>
              </a:rPr>
              <a:t>Finition + démo
Release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709160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12D3D"/>
                </a:solidFill>
              </a:rPr>
              <a:t>Release 1 : MVP attendu à la fin du Sprint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70916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12D3D"/>
                </a:solidFill>
              </a:rPr>
              <a:t>Release 2 : enrichissements et finalisation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20256"/>
            <a:ext cx="4069080" cy="146304"/>
          </a:xfrm>
          <a:prstGeom prst="rect">
            <a:avLst/>
          </a:prstGeom>
          <a:solidFill>
            <a:srgbClr val="496F8F"/>
          </a:solidFill>
          <a:ln>
            <a:solidFill>
              <a:srgbClr val="49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069080" y="6620256"/>
            <a:ext cx="4069080" cy="146304"/>
          </a:xfrm>
          <a:prstGeom prst="rect">
            <a:avLst/>
          </a:prstGeom>
          <a:solidFill>
            <a:srgbClr val="D6C5A9"/>
          </a:solidFill>
          <a:ln>
            <a:solidFill>
              <a:srgbClr val="D6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38160" y="6620256"/>
            <a:ext cx="4050791" cy="146304"/>
          </a:xfrm>
          <a:prstGeom prst="rect">
            <a:avLst/>
          </a:prstGeom>
          <a:solidFill>
            <a:srgbClr val="8595A6"/>
          </a:solidFill>
          <a:ln>
            <a:solidFill>
              <a:srgbClr val="859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225</Words>
  <Application>Microsoft Office PowerPoint</Application>
  <PresentationFormat>Grand écran</PresentationFormat>
  <Paragraphs>49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That Guy Digg</cp:lastModifiedBy>
  <cp:revision>4</cp:revision>
  <dcterms:created xsi:type="dcterms:W3CDTF">2013-01-27T09:14:16Z</dcterms:created>
  <dcterms:modified xsi:type="dcterms:W3CDTF">2026-06-29T14:39:39Z</dcterms:modified>
  <cp:category/>
</cp:coreProperties>
</file>